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923" autoAdjust="0"/>
  </p:normalViewPr>
  <p:slideViewPr>
    <p:cSldViewPr snapToGrid="0">
      <p:cViewPr varScale="1">
        <p:scale>
          <a:sx n="66" d="100"/>
          <a:sy n="66" d="100"/>
        </p:scale>
        <p:origin x="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52CA2-35E1-C520-D2D0-9A4C697386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B2185A-225E-2610-F56E-03493BACF2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440BC6-13BA-D382-1898-01C875BF5CC6}"/>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5" name="Footer Placeholder 4">
            <a:extLst>
              <a:ext uri="{FF2B5EF4-FFF2-40B4-BE49-F238E27FC236}">
                <a16:creationId xmlns:a16="http://schemas.microsoft.com/office/drawing/2014/main" id="{8497AC2D-191C-442C-BACC-F91A2C9B2C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6ECAD-BB6E-5772-EC7B-ED916D1124D7}"/>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602654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55B15-C343-0CC9-45D3-C29F26F49E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1C071F-8EE9-047B-6686-20CE1A0FD7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B47C81-83F3-2B3D-4FE2-BB7F358A7A74}"/>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5" name="Footer Placeholder 4">
            <a:extLst>
              <a:ext uri="{FF2B5EF4-FFF2-40B4-BE49-F238E27FC236}">
                <a16:creationId xmlns:a16="http://schemas.microsoft.com/office/drawing/2014/main" id="{F27AD000-B01E-1C13-694E-E208AABD6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002967-7A69-8B39-25D8-B17A5E79471D}"/>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3001520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90DA3-09CD-A0EA-7B2A-726E9F4A47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1E9B76-F7D3-08C3-C763-8F2B9F3E12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B2DBF1-FF35-4FFE-1C6E-CE67E750B50F}"/>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5" name="Footer Placeholder 4">
            <a:extLst>
              <a:ext uri="{FF2B5EF4-FFF2-40B4-BE49-F238E27FC236}">
                <a16:creationId xmlns:a16="http://schemas.microsoft.com/office/drawing/2014/main" id="{D3028B27-AD56-5F95-05FD-94494A54C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EFD7E5-3467-CEA6-5A21-DA8713E6C6A8}"/>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1752565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6E55-7973-39D7-0341-955DFB48B5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C63571-D090-8FB4-313F-F1681C3641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65248B-234D-42C4-432C-F2E59B748D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829179-6872-4740-2FE4-9254DECC0386}"/>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6" name="Footer Placeholder 5">
            <a:extLst>
              <a:ext uri="{FF2B5EF4-FFF2-40B4-BE49-F238E27FC236}">
                <a16:creationId xmlns:a16="http://schemas.microsoft.com/office/drawing/2014/main" id="{61ECABFD-91C4-34F5-D65D-3F968A1D1B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88D728-B46E-94C1-F4C8-4413CE719ED4}"/>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221577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5C947-1D00-3DC3-8EB8-A796696E25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EC3FAB-20E4-EE02-A757-C1E5198495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37B97B-B174-3712-D4BD-1885243522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F95B7E-8E60-D950-4CE7-00ED0ABB8C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C4E695-8610-99D5-C5A6-C9EC64D65B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D8FA3F-BAAA-3BD4-FC4D-0D7876C38288}"/>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8" name="Footer Placeholder 7">
            <a:extLst>
              <a:ext uri="{FF2B5EF4-FFF2-40B4-BE49-F238E27FC236}">
                <a16:creationId xmlns:a16="http://schemas.microsoft.com/office/drawing/2014/main" id="{919ADD0A-6429-5DB0-F84D-5D294EA96C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12C635-D913-F76E-AF16-A488AFEB3DBA}"/>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4119693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6E02-A46D-2478-D1D2-7FF66DAB00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A74E13-DF8E-65B7-FF5F-F771C7A487E8}"/>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4" name="Footer Placeholder 3">
            <a:extLst>
              <a:ext uri="{FF2B5EF4-FFF2-40B4-BE49-F238E27FC236}">
                <a16:creationId xmlns:a16="http://schemas.microsoft.com/office/drawing/2014/main" id="{EF35DDA2-B8DC-6783-3BA7-8FCF106BD7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35DF8D-8D12-82CF-2A05-51D57112BAD2}"/>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516198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31C7C2-A4B7-BC31-E592-D81ACDD32D36}"/>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3" name="Footer Placeholder 2">
            <a:extLst>
              <a:ext uri="{FF2B5EF4-FFF2-40B4-BE49-F238E27FC236}">
                <a16:creationId xmlns:a16="http://schemas.microsoft.com/office/drawing/2014/main" id="{2E3EA3E3-13A5-A447-D1CB-572C90529F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140572-938D-F832-A6F5-19E848093B31}"/>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3384096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AF08-D1F7-B037-C8C1-629CB92FCB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26A131-86F3-41BB-BBCE-30774F5DAE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FF38F1-5B1A-7C0A-2F8F-5943709CB2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66626C-5E29-36B6-A94C-D3C4E8C50B10}"/>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6" name="Footer Placeholder 5">
            <a:extLst>
              <a:ext uri="{FF2B5EF4-FFF2-40B4-BE49-F238E27FC236}">
                <a16:creationId xmlns:a16="http://schemas.microsoft.com/office/drawing/2014/main" id="{9012D3BB-4A85-FD9A-BBF7-4C61D0B1D9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7B94C8-2ED6-378B-A7F8-C685EC58DA17}"/>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2363443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02BA-BEAD-FC2F-4B67-D134B4F84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DF20E1-9E0B-05BD-F9BC-441BE9994B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247CC4-CB71-37D8-049D-B397289B0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2C8FB-DE01-3C88-2F66-C2A7FF1B7689}"/>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6" name="Footer Placeholder 5">
            <a:extLst>
              <a:ext uri="{FF2B5EF4-FFF2-40B4-BE49-F238E27FC236}">
                <a16:creationId xmlns:a16="http://schemas.microsoft.com/office/drawing/2014/main" id="{FC684F0F-165D-0274-3474-0F51206B78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7C73A6-CA0A-62D7-8660-1F2B2F245133}"/>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1625459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D118E-B425-CC97-7952-926D2313DD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C120D1-8ADB-41F9-6B03-5B6201E98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818DC-AF98-0FCF-B4B8-58A351FEDD12}"/>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5" name="Footer Placeholder 4">
            <a:extLst>
              <a:ext uri="{FF2B5EF4-FFF2-40B4-BE49-F238E27FC236}">
                <a16:creationId xmlns:a16="http://schemas.microsoft.com/office/drawing/2014/main" id="{A68CFECE-1035-750C-7CE9-DEB523FCB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3B5D65-E2EF-1394-3E1D-CD7F1A3132B3}"/>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257858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F244E8-3F73-FA54-B840-042EB840B6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9837BA-AE1D-13F2-FB19-1326EED785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9B8751-5D04-BB56-025A-68507A6D3884}"/>
              </a:ext>
            </a:extLst>
          </p:cNvPr>
          <p:cNvSpPr>
            <a:spLocks noGrp="1"/>
          </p:cNvSpPr>
          <p:nvPr>
            <p:ph type="dt" sz="half" idx="10"/>
          </p:nvPr>
        </p:nvSpPr>
        <p:spPr/>
        <p:txBody>
          <a:bodyPr/>
          <a:lstStyle/>
          <a:p>
            <a:fld id="{87C32E62-0887-4669-B568-B37B9B33BAA0}" type="datetimeFigureOut">
              <a:rPr lang="en-US" smtClean="0"/>
              <a:t>3/26/2026</a:t>
            </a:fld>
            <a:endParaRPr lang="en-US"/>
          </a:p>
        </p:txBody>
      </p:sp>
      <p:sp>
        <p:nvSpPr>
          <p:cNvPr id="5" name="Footer Placeholder 4">
            <a:extLst>
              <a:ext uri="{FF2B5EF4-FFF2-40B4-BE49-F238E27FC236}">
                <a16:creationId xmlns:a16="http://schemas.microsoft.com/office/drawing/2014/main" id="{14998065-C7F7-6966-3CFD-CEB9AB1959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2D01B-4ED4-DAD5-D25B-685F46AA812B}"/>
              </a:ext>
            </a:extLst>
          </p:cNvPr>
          <p:cNvSpPr>
            <a:spLocks noGrp="1"/>
          </p:cNvSpPr>
          <p:nvPr>
            <p:ph type="sldNum" sz="quarter" idx="12"/>
          </p:nvPr>
        </p:nvSpPr>
        <p:spPr/>
        <p:txBody>
          <a:bodyPr/>
          <a:lstStyle/>
          <a:p>
            <a:fld id="{361F54F2-EF01-4F2C-9673-9A1750ABEE10}" type="slidenum">
              <a:rPr lang="en-US" smtClean="0"/>
              <a:t>‹#›</a:t>
            </a:fld>
            <a:endParaRPr lang="en-US"/>
          </a:p>
        </p:txBody>
      </p:sp>
    </p:spTree>
    <p:extLst>
      <p:ext uri="{BB962C8B-B14F-4D97-AF65-F5344CB8AC3E}">
        <p14:creationId xmlns:p14="http://schemas.microsoft.com/office/powerpoint/2010/main" val="2537953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3D9BAD-F62F-C52D-ADE3-A6CEC221C4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961808-0EC8-02C6-E748-970675384A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977BA8-066A-D94D-CBCA-9F5791FA2A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32E62-0887-4669-B568-B37B9B33BAA0}" type="datetimeFigureOut">
              <a:rPr lang="en-US" smtClean="0"/>
              <a:t>3/26/2026</a:t>
            </a:fld>
            <a:endParaRPr lang="en-US"/>
          </a:p>
        </p:txBody>
      </p:sp>
      <p:sp>
        <p:nvSpPr>
          <p:cNvPr id="5" name="Footer Placeholder 4">
            <a:extLst>
              <a:ext uri="{FF2B5EF4-FFF2-40B4-BE49-F238E27FC236}">
                <a16:creationId xmlns:a16="http://schemas.microsoft.com/office/drawing/2014/main" id="{49562415-F648-8E5C-E2C0-55C184360B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A8381C0-84EF-21D0-114B-5CE1AA9C4F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F54F2-EF01-4F2C-9673-9A1750ABEE10}" type="slidenum">
              <a:rPr lang="en-US" smtClean="0"/>
              <a:t>‹#›</a:t>
            </a:fld>
            <a:endParaRPr lang="en-US"/>
          </a:p>
        </p:txBody>
      </p:sp>
    </p:spTree>
    <p:extLst>
      <p:ext uri="{BB962C8B-B14F-4D97-AF65-F5344CB8AC3E}">
        <p14:creationId xmlns:p14="http://schemas.microsoft.com/office/powerpoint/2010/main" val="3046110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ADA86-7FD2-FB80-F685-42ADE94BB52A}"/>
              </a:ext>
            </a:extLst>
          </p:cNvPr>
          <p:cNvSpPr>
            <a:spLocks noGrp="1"/>
          </p:cNvSpPr>
          <p:nvPr>
            <p:ph type="ctrTitle"/>
          </p:nvPr>
        </p:nvSpPr>
        <p:spPr/>
        <p:txBody>
          <a:bodyPr>
            <a:normAutofit/>
          </a:bodyPr>
          <a:lstStyle/>
          <a:p>
            <a:pPr algn="l"/>
            <a:r>
              <a:rPr lang="en-US" dirty="0">
                <a:highlight>
                  <a:srgbClr val="00FF00"/>
                </a:highlight>
              </a:rPr>
              <a:t>FAKE NEWS DETECTION </a:t>
            </a:r>
            <a:br>
              <a:rPr lang="en-US" dirty="0">
                <a:highlight>
                  <a:srgbClr val="00FF00"/>
                </a:highlight>
              </a:rPr>
            </a:br>
            <a:r>
              <a:rPr lang="en-US" dirty="0">
                <a:highlight>
                  <a:srgbClr val="00FF00"/>
                </a:highlight>
              </a:rPr>
              <a:t>SYSTEM</a:t>
            </a:r>
          </a:p>
        </p:txBody>
      </p:sp>
      <p:sp>
        <p:nvSpPr>
          <p:cNvPr id="3" name="Subtitle 2">
            <a:extLst>
              <a:ext uri="{FF2B5EF4-FFF2-40B4-BE49-F238E27FC236}">
                <a16:creationId xmlns:a16="http://schemas.microsoft.com/office/drawing/2014/main" id="{B55C5E06-7186-C9BE-948D-D9BB2174BB6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7328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294CE9-0004-92E7-AE3C-4ED8BDD06C54}"/>
              </a:ext>
            </a:extLst>
          </p:cNvPr>
          <p:cNvSpPr txBox="1"/>
          <p:nvPr/>
        </p:nvSpPr>
        <p:spPr>
          <a:xfrm>
            <a:off x="365760" y="661183"/>
            <a:ext cx="10719582" cy="5940088"/>
          </a:xfrm>
          <a:prstGeom prst="rect">
            <a:avLst/>
          </a:prstGeom>
          <a:noFill/>
        </p:spPr>
        <p:txBody>
          <a:bodyPr wrap="square">
            <a:spAutoFit/>
          </a:bodyPr>
          <a:lstStyle/>
          <a:p>
            <a:pPr>
              <a:buNone/>
            </a:pPr>
            <a:r>
              <a:rPr lang="en-US" sz="2000" dirty="0"/>
              <a:t>With the rapid growth of the internet and social media platforms, the way people consume news has changed drastically. Millions of users rely on online sources such as websites, blogs, and social media for daily information. However, this convenience has also led to the widespread dissemination of </a:t>
            </a:r>
            <a:r>
              <a:rPr lang="en-US" sz="2000" b="1" dirty="0"/>
              <a:t>fake news</a:t>
            </a:r>
            <a:r>
              <a:rPr lang="en-US" sz="2000" dirty="0"/>
              <a:t>, which refers to false or misleading information presented as legitimate news.</a:t>
            </a:r>
          </a:p>
          <a:p>
            <a:pPr>
              <a:buNone/>
            </a:pPr>
            <a:r>
              <a:rPr lang="en-US" sz="2000" dirty="0"/>
              <a:t>Fake news can influence public opinion, create confusion, and even lead to serious consequences in areas like politics, health, and social harmony. Therefore, there is a strong need for automated systems that can detect and filter out fake news.</a:t>
            </a:r>
          </a:p>
          <a:p>
            <a:pPr>
              <a:buNone/>
            </a:pPr>
            <a:r>
              <a:rPr lang="en-US" sz="2000" dirty="0"/>
              <a:t>This project focuses on building a </a:t>
            </a:r>
            <a:r>
              <a:rPr lang="en-US" sz="2000" b="1" dirty="0"/>
              <a:t>Fake News Detection System</a:t>
            </a:r>
            <a:r>
              <a:rPr lang="en-US" sz="2000" dirty="0"/>
              <a:t> using </a:t>
            </a:r>
            <a:r>
              <a:rPr lang="en-US" sz="2000" b="1" dirty="0"/>
              <a:t>Machine Learning (ML)</a:t>
            </a:r>
            <a:r>
              <a:rPr lang="en-US" sz="2000" dirty="0"/>
              <a:t> and </a:t>
            </a:r>
            <a:r>
              <a:rPr lang="en-US" sz="2000" b="1" dirty="0"/>
              <a:t>Natural Language Processing (NLP)</a:t>
            </a:r>
            <a:r>
              <a:rPr lang="en-US" sz="2000" dirty="0"/>
              <a:t> techniques to classify news articles as </a:t>
            </a:r>
            <a:r>
              <a:rPr lang="en-US" sz="2000" b="1" dirty="0"/>
              <a:t>real or fake</a:t>
            </a:r>
            <a:r>
              <a:rPr lang="en-US" sz="2000" dirty="0"/>
              <a:t> based on their content.</a:t>
            </a:r>
          </a:p>
          <a:p>
            <a:pPr>
              <a:buNone/>
            </a:pPr>
            <a:br>
              <a:rPr lang="en-US" sz="2000" dirty="0"/>
            </a:br>
            <a:endParaRPr lang="en-US" sz="2000" dirty="0"/>
          </a:p>
          <a:p>
            <a:pPr>
              <a:buNone/>
            </a:pPr>
            <a:r>
              <a:rPr lang="en-US" sz="2000" b="1" dirty="0"/>
              <a:t>2. Problem Statement</a:t>
            </a:r>
          </a:p>
          <a:p>
            <a:pPr>
              <a:buNone/>
            </a:pPr>
            <a:r>
              <a:rPr lang="en-US" sz="2000" dirty="0"/>
              <a:t>In today’s digital world, verifying the authenticity of news manually is extremely challenging due to the massive volume of information being generated every second. Many users unknowingly share fake news, which accelerates its spread.</a:t>
            </a:r>
          </a:p>
          <a:p>
            <a:pPr>
              <a:buNone/>
            </a:pPr>
            <a:r>
              <a:rPr lang="en-US" sz="2000" b="1" dirty="0"/>
              <a:t>Problem Definition:</a:t>
            </a:r>
            <a:br>
              <a:rPr lang="en-US" sz="2000" dirty="0"/>
            </a:br>
            <a:r>
              <a:rPr lang="en-US" sz="2000" dirty="0"/>
              <a:t>To design and develop a system that can automatically analyze and classify news articles as fake or real using machine learning algorithms</a:t>
            </a:r>
          </a:p>
        </p:txBody>
      </p:sp>
    </p:spTree>
    <p:extLst>
      <p:ext uri="{BB962C8B-B14F-4D97-AF65-F5344CB8AC3E}">
        <p14:creationId xmlns:p14="http://schemas.microsoft.com/office/powerpoint/2010/main" val="869519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F4EEE2-F1CC-5B14-8516-3EFFCD792CA6}"/>
              </a:ext>
            </a:extLst>
          </p:cNvPr>
          <p:cNvSpPr txBox="1"/>
          <p:nvPr/>
        </p:nvSpPr>
        <p:spPr>
          <a:xfrm>
            <a:off x="595532" y="1028343"/>
            <a:ext cx="11000935" cy="5324535"/>
          </a:xfrm>
          <a:prstGeom prst="rect">
            <a:avLst/>
          </a:prstGeom>
          <a:noFill/>
        </p:spPr>
        <p:txBody>
          <a:bodyPr wrap="square">
            <a:spAutoFit/>
          </a:bodyPr>
          <a:lstStyle/>
          <a:p>
            <a:pPr>
              <a:buNone/>
            </a:pPr>
            <a:r>
              <a:rPr lang="en-US" sz="2000" b="1" dirty="0"/>
              <a:t>3. Objectives</a:t>
            </a:r>
          </a:p>
          <a:p>
            <a:pPr>
              <a:buNone/>
            </a:pPr>
            <a:r>
              <a:rPr lang="en-US" sz="2000" dirty="0"/>
              <a:t>The key objectives of this project are:</a:t>
            </a:r>
          </a:p>
          <a:p>
            <a:pPr>
              <a:buFont typeface="Arial" panose="020B0604020202020204" pitchFamily="34" charset="0"/>
              <a:buChar char="•"/>
            </a:pPr>
            <a:r>
              <a:rPr lang="en-US" sz="2000" dirty="0"/>
              <a:t>To collect and preprocess a dataset of news articles </a:t>
            </a:r>
          </a:p>
          <a:p>
            <a:pPr>
              <a:buFont typeface="Arial" panose="020B0604020202020204" pitchFamily="34" charset="0"/>
              <a:buChar char="•"/>
            </a:pPr>
            <a:r>
              <a:rPr lang="en-US" sz="2000" dirty="0"/>
              <a:t>To apply Natural Language Processing techniques to clean and prepare text data </a:t>
            </a:r>
          </a:p>
          <a:p>
            <a:pPr>
              <a:buFont typeface="Arial" panose="020B0604020202020204" pitchFamily="34" charset="0"/>
              <a:buChar char="•"/>
            </a:pPr>
            <a:r>
              <a:rPr lang="en-US" sz="2000" dirty="0"/>
              <a:t>To extract meaningful features from textual data </a:t>
            </a:r>
          </a:p>
          <a:p>
            <a:pPr>
              <a:buFont typeface="Arial" panose="020B0604020202020204" pitchFamily="34" charset="0"/>
              <a:buChar char="•"/>
            </a:pPr>
            <a:r>
              <a:rPr lang="en-US" sz="2000" dirty="0"/>
              <a:t>To train machine learning models for classification </a:t>
            </a:r>
          </a:p>
          <a:p>
            <a:pPr>
              <a:buFont typeface="Arial" panose="020B0604020202020204" pitchFamily="34" charset="0"/>
              <a:buChar char="•"/>
            </a:pPr>
            <a:r>
              <a:rPr lang="en-US" sz="2000" dirty="0"/>
              <a:t>To evaluate the performance of different models </a:t>
            </a:r>
          </a:p>
          <a:p>
            <a:pPr>
              <a:buFont typeface="Arial" panose="020B0604020202020204" pitchFamily="34" charset="0"/>
              <a:buChar char="•"/>
            </a:pPr>
            <a:r>
              <a:rPr lang="en-US" sz="2000" dirty="0"/>
              <a:t>To build a system capable of predicting the authenticity of unseen news articles </a:t>
            </a:r>
          </a:p>
          <a:p>
            <a:pPr>
              <a:buNone/>
            </a:pPr>
            <a:br>
              <a:rPr lang="en-US" sz="2000" dirty="0"/>
            </a:br>
            <a:endParaRPr lang="en-US" sz="2000" dirty="0"/>
          </a:p>
          <a:p>
            <a:pPr>
              <a:buNone/>
            </a:pPr>
            <a:r>
              <a:rPr lang="en-US" sz="2000" b="1" dirty="0"/>
              <a:t>4. Scope of the Project</a:t>
            </a:r>
          </a:p>
          <a:p>
            <a:pPr>
              <a:buNone/>
            </a:pPr>
            <a:r>
              <a:rPr lang="en-US" sz="2000" dirty="0"/>
              <a:t>This project is focused on text-based news classification. It does not include multimedia verification (images/videos). The system works on datasets where news articles are already labeled as fake or real.</a:t>
            </a:r>
          </a:p>
          <a:p>
            <a:pPr>
              <a:buNone/>
            </a:pPr>
            <a:r>
              <a:rPr lang="en-US" sz="2000" dirty="0"/>
              <a:t>The scope includes:</a:t>
            </a:r>
          </a:p>
          <a:p>
            <a:pPr>
              <a:buFont typeface="Arial" panose="020B0604020202020204" pitchFamily="34" charset="0"/>
              <a:buChar char="•"/>
            </a:pPr>
            <a:r>
              <a:rPr lang="en-US" sz="2000" dirty="0"/>
              <a:t>Text preprocessing and analysis </a:t>
            </a:r>
          </a:p>
          <a:p>
            <a:pPr>
              <a:buFont typeface="Arial" panose="020B0604020202020204" pitchFamily="34" charset="0"/>
              <a:buChar char="•"/>
            </a:pPr>
            <a:r>
              <a:rPr lang="en-US" sz="2000" dirty="0"/>
              <a:t>Model training and evaluation </a:t>
            </a:r>
          </a:p>
          <a:p>
            <a:pPr>
              <a:buFont typeface="Arial" panose="020B0604020202020204" pitchFamily="34" charset="0"/>
              <a:buChar char="•"/>
            </a:pPr>
            <a:r>
              <a:rPr lang="en-US" sz="2000" dirty="0"/>
              <a:t>Prediction of new news inputs</a:t>
            </a:r>
          </a:p>
        </p:txBody>
      </p:sp>
    </p:spTree>
    <p:extLst>
      <p:ext uri="{BB962C8B-B14F-4D97-AF65-F5344CB8AC3E}">
        <p14:creationId xmlns:p14="http://schemas.microsoft.com/office/powerpoint/2010/main" val="2751551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E4EEED-60A8-2755-E953-D20DA800B73C}"/>
              </a:ext>
            </a:extLst>
          </p:cNvPr>
          <p:cNvSpPr txBox="1"/>
          <p:nvPr/>
        </p:nvSpPr>
        <p:spPr>
          <a:xfrm>
            <a:off x="661181" y="986140"/>
            <a:ext cx="9537896" cy="5324535"/>
          </a:xfrm>
          <a:prstGeom prst="rect">
            <a:avLst/>
          </a:prstGeom>
          <a:noFill/>
        </p:spPr>
        <p:txBody>
          <a:bodyPr wrap="square">
            <a:spAutoFit/>
          </a:bodyPr>
          <a:lstStyle/>
          <a:p>
            <a:pPr>
              <a:buNone/>
            </a:pPr>
            <a:r>
              <a:rPr lang="en-US" sz="2000" b="1" dirty="0"/>
              <a:t>5. Importance of the Project</a:t>
            </a:r>
          </a:p>
          <a:p>
            <a:pPr>
              <a:buNone/>
            </a:pPr>
            <a:r>
              <a:rPr lang="en-US" sz="2000" dirty="0"/>
              <a:t>Fake news detection is crucial in today’s society for several reasons:</a:t>
            </a:r>
          </a:p>
          <a:p>
            <a:pPr>
              <a:buFont typeface="Arial" panose="020B0604020202020204" pitchFamily="34" charset="0"/>
              <a:buChar char="•"/>
            </a:pPr>
            <a:r>
              <a:rPr lang="en-US" sz="2000" b="1" dirty="0"/>
              <a:t>Prevents misinformation:</a:t>
            </a:r>
            <a:r>
              <a:rPr lang="en-US" sz="2000" dirty="0"/>
              <a:t> Helps stop the spread of false information </a:t>
            </a:r>
          </a:p>
          <a:p>
            <a:pPr>
              <a:buFont typeface="Arial" panose="020B0604020202020204" pitchFamily="34" charset="0"/>
              <a:buChar char="•"/>
            </a:pPr>
            <a:r>
              <a:rPr lang="en-US" sz="2000" b="1" dirty="0"/>
              <a:t>Supports journalism:</a:t>
            </a:r>
            <a:r>
              <a:rPr lang="en-US" sz="2000" dirty="0"/>
              <a:t> Assists fact-checkers and reporters </a:t>
            </a:r>
          </a:p>
          <a:p>
            <a:pPr>
              <a:buFont typeface="Arial" panose="020B0604020202020204" pitchFamily="34" charset="0"/>
              <a:buChar char="•"/>
            </a:pPr>
            <a:r>
              <a:rPr lang="en-US" sz="2000" b="1" dirty="0"/>
              <a:t>Protects society:</a:t>
            </a:r>
            <a:r>
              <a:rPr lang="en-US" sz="2000" dirty="0"/>
              <a:t> Reduces panic and confusion caused by fake news </a:t>
            </a:r>
          </a:p>
          <a:p>
            <a:pPr>
              <a:buFont typeface="Arial" panose="020B0604020202020204" pitchFamily="34" charset="0"/>
              <a:buChar char="•"/>
            </a:pPr>
            <a:r>
              <a:rPr lang="en-US" sz="2000" b="1" dirty="0"/>
              <a:t>Improves digital literacy:</a:t>
            </a:r>
            <a:r>
              <a:rPr lang="en-US" sz="2000" dirty="0"/>
              <a:t> Encourages users to verify information </a:t>
            </a:r>
          </a:p>
          <a:p>
            <a:pPr>
              <a:buNone/>
            </a:pPr>
            <a:br>
              <a:rPr lang="en-US" sz="2000" dirty="0"/>
            </a:br>
            <a:endParaRPr lang="en-US" sz="2000" dirty="0"/>
          </a:p>
          <a:p>
            <a:pPr>
              <a:buNone/>
            </a:pPr>
            <a:r>
              <a:rPr lang="en-US" sz="2000" b="1" dirty="0"/>
              <a:t>6. Literature Review</a:t>
            </a:r>
          </a:p>
          <a:p>
            <a:pPr>
              <a:buNone/>
            </a:pPr>
            <a:r>
              <a:rPr lang="en-US" sz="2000" dirty="0"/>
              <a:t>Various studies have been conducted in the field of fake news detection. Traditional approaches use machine learning algorithms such as </a:t>
            </a:r>
            <a:r>
              <a:rPr lang="en-US" sz="2000" b="1" dirty="0"/>
              <a:t>Naive Bayes</a:t>
            </a:r>
            <a:r>
              <a:rPr lang="en-US" sz="2000" dirty="0"/>
              <a:t>, </a:t>
            </a:r>
            <a:r>
              <a:rPr lang="en-US" sz="2000" b="1" dirty="0"/>
              <a:t>Support Vector Machines (SVM)</a:t>
            </a:r>
            <a:r>
              <a:rPr lang="en-US" sz="2000" dirty="0"/>
              <a:t>, and </a:t>
            </a:r>
            <a:r>
              <a:rPr lang="en-US" sz="2000" b="1" dirty="0"/>
              <a:t>Logistic Regression</a:t>
            </a:r>
            <a:r>
              <a:rPr lang="en-US" sz="2000" dirty="0"/>
              <a:t> for text classification tasks.</a:t>
            </a:r>
          </a:p>
          <a:p>
            <a:pPr>
              <a:buNone/>
            </a:pPr>
            <a:r>
              <a:rPr lang="en-US" sz="2000" dirty="0"/>
              <a:t>Recent advancements include the use of deep learning techniques such as:</a:t>
            </a:r>
          </a:p>
          <a:p>
            <a:pPr>
              <a:buFont typeface="Arial" panose="020B0604020202020204" pitchFamily="34" charset="0"/>
              <a:buChar char="•"/>
            </a:pPr>
            <a:r>
              <a:rPr lang="en-US" sz="2000" dirty="0"/>
              <a:t>Recurrent Neural Networks (RNN) </a:t>
            </a:r>
          </a:p>
          <a:p>
            <a:pPr>
              <a:buFont typeface="Arial" panose="020B0604020202020204" pitchFamily="34" charset="0"/>
              <a:buChar char="•"/>
            </a:pPr>
            <a:r>
              <a:rPr lang="en-US" sz="2000" dirty="0"/>
              <a:t>Long Short-Term Memory (LSTM) </a:t>
            </a:r>
          </a:p>
          <a:p>
            <a:pPr>
              <a:buFont typeface="Arial" panose="020B0604020202020204" pitchFamily="34" charset="0"/>
              <a:buChar char="•"/>
            </a:pPr>
            <a:r>
              <a:rPr lang="en-US" sz="2000" dirty="0"/>
              <a:t>Transformer-based models like BERT </a:t>
            </a:r>
          </a:p>
          <a:p>
            <a:pPr>
              <a:buNone/>
            </a:pPr>
            <a:r>
              <a:rPr lang="en-US" sz="2000" dirty="0"/>
              <a:t>These models improve accuracy by understanding the context and semantics of the text.</a:t>
            </a:r>
          </a:p>
        </p:txBody>
      </p:sp>
    </p:spTree>
    <p:extLst>
      <p:ext uri="{BB962C8B-B14F-4D97-AF65-F5344CB8AC3E}">
        <p14:creationId xmlns:p14="http://schemas.microsoft.com/office/powerpoint/2010/main" val="3569253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DAB219-9169-2266-15DE-CF410C7FFEE2}"/>
              </a:ext>
            </a:extLst>
          </p:cNvPr>
          <p:cNvSpPr txBox="1"/>
          <p:nvPr/>
        </p:nvSpPr>
        <p:spPr>
          <a:xfrm>
            <a:off x="703385" y="853836"/>
            <a:ext cx="9734843" cy="3693319"/>
          </a:xfrm>
          <a:prstGeom prst="rect">
            <a:avLst/>
          </a:prstGeom>
          <a:noFill/>
        </p:spPr>
        <p:txBody>
          <a:bodyPr wrap="square">
            <a:spAutoFit/>
          </a:bodyPr>
          <a:lstStyle/>
          <a:p>
            <a:pPr>
              <a:buNone/>
            </a:pPr>
            <a:r>
              <a:rPr lang="en-US" b="1" dirty="0"/>
              <a:t>7. Methodology</a:t>
            </a:r>
          </a:p>
          <a:p>
            <a:pPr>
              <a:buNone/>
            </a:pPr>
            <a:r>
              <a:rPr lang="en-US" b="1" dirty="0"/>
              <a:t>7.1 Data Collection</a:t>
            </a:r>
          </a:p>
          <a:p>
            <a:pPr>
              <a:buNone/>
            </a:pPr>
            <a:r>
              <a:rPr lang="en-US" dirty="0"/>
              <a:t>The dataset used in this project was obtained from publicly available sources such as Kaggle. It consists of news articles labeled as </a:t>
            </a:r>
            <a:r>
              <a:rPr lang="en-US" b="1" dirty="0"/>
              <a:t>fake</a:t>
            </a:r>
            <a:r>
              <a:rPr lang="en-US" dirty="0"/>
              <a:t> or </a:t>
            </a:r>
            <a:r>
              <a:rPr lang="en-US" b="1" dirty="0"/>
              <a:t>real</a:t>
            </a:r>
            <a:r>
              <a:rPr lang="en-US" dirty="0"/>
              <a:t>.</a:t>
            </a:r>
          </a:p>
          <a:p>
            <a:pPr>
              <a:buNone/>
            </a:pPr>
            <a:br>
              <a:rPr lang="en-US" dirty="0"/>
            </a:br>
            <a:endParaRPr lang="en-US" dirty="0"/>
          </a:p>
          <a:p>
            <a:pPr>
              <a:buNone/>
            </a:pPr>
            <a:r>
              <a:rPr lang="en-US" b="1" dirty="0"/>
              <a:t>7.2 Data Preprocessing</a:t>
            </a:r>
          </a:p>
          <a:p>
            <a:pPr>
              <a:buNone/>
            </a:pPr>
            <a:r>
              <a:rPr lang="en-US" dirty="0"/>
              <a:t>Data preprocessing is an essential step in text analysis. The following steps were performed:</a:t>
            </a:r>
          </a:p>
          <a:p>
            <a:pPr>
              <a:buFont typeface="Arial" panose="020B0604020202020204" pitchFamily="34" charset="0"/>
              <a:buChar char="•"/>
            </a:pPr>
            <a:r>
              <a:rPr lang="en-US" dirty="0"/>
              <a:t>Converting all text to lowercase </a:t>
            </a:r>
          </a:p>
          <a:p>
            <a:pPr>
              <a:buFont typeface="Arial" panose="020B0604020202020204" pitchFamily="34" charset="0"/>
              <a:buChar char="•"/>
            </a:pPr>
            <a:r>
              <a:rPr lang="en-US" dirty="0"/>
              <a:t>Removing punctuation and special characters </a:t>
            </a:r>
          </a:p>
          <a:p>
            <a:pPr>
              <a:buFont typeface="Arial" panose="020B0604020202020204" pitchFamily="34" charset="0"/>
              <a:buChar char="•"/>
            </a:pPr>
            <a:r>
              <a:rPr lang="en-US" dirty="0"/>
              <a:t>Removing </a:t>
            </a:r>
            <a:r>
              <a:rPr lang="en-US" dirty="0" err="1"/>
              <a:t>stopwords</a:t>
            </a:r>
            <a:r>
              <a:rPr lang="en-US" dirty="0"/>
              <a:t> (common words like "the", "is", etc.) </a:t>
            </a:r>
          </a:p>
          <a:p>
            <a:pPr>
              <a:buFont typeface="Arial" panose="020B0604020202020204" pitchFamily="34" charset="0"/>
              <a:buChar char="•"/>
            </a:pPr>
            <a:r>
              <a:rPr lang="en-US" dirty="0"/>
              <a:t>Tokenization (splitting text into words) </a:t>
            </a:r>
          </a:p>
          <a:p>
            <a:pPr>
              <a:buFont typeface="Arial" panose="020B0604020202020204" pitchFamily="34" charset="0"/>
              <a:buChar char="•"/>
            </a:pPr>
            <a:r>
              <a:rPr lang="en-US" dirty="0"/>
              <a:t>Stemming or Lemmatization (reducing words to their base form)</a:t>
            </a:r>
          </a:p>
        </p:txBody>
      </p:sp>
      <p:sp>
        <p:nvSpPr>
          <p:cNvPr id="5" name="TextBox 4">
            <a:extLst>
              <a:ext uri="{FF2B5EF4-FFF2-40B4-BE49-F238E27FC236}">
                <a16:creationId xmlns:a16="http://schemas.microsoft.com/office/drawing/2014/main" id="{80027360-B73F-B569-00FD-6E6693BCD40F}"/>
              </a:ext>
            </a:extLst>
          </p:cNvPr>
          <p:cNvSpPr txBox="1"/>
          <p:nvPr/>
        </p:nvSpPr>
        <p:spPr>
          <a:xfrm>
            <a:off x="703385" y="4659697"/>
            <a:ext cx="8088923" cy="1754326"/>
          </a:xfrm>
          <a:prstGeom prst="rect">
            <a:avLst/>
          </a:prstGeom>
          <a:noFill/>
        </p:spPr>
        <p:txBody>
          <a:bodyPr wrap="square">
            <a:spAutoFit/>
          </a:bodyPr>
          <a:lstStyle/>
          <a:p>
            <a:pPr>
              <a:buNone/>
            </a:pPr>
            <a:r>
              <a:rPr lang="en-US" b="1" dirty="0"/>
              <a:t>Feature Extraction</a:t>
            </a:r>
          </a:p>
          <a:p>
            <a:pPr>
              <a:buNone/>
            </a:pPr>
            <a:r>
              <a:rPr lang="en-US" dirty="0"/>
              <a:t>Text data cannot be directly used by machine learning models. Therefore, it was converted into numerical form using:</a:t>
            </a:r>
          </a:p>
          <a:p>
            <a:pPr>
              <a:buFont typeface="Arial" panose="020B0604020202020204" pitchFamily="34" charset="0"/>
              <a:buChar char="•"/>
            </a:pPr>
            <a:r>
              <a:rPr lang="en-US" b="1" dirty="0"/>
              <a:t>TF-IDF (Term Frequency-Inverse Document Frequency)</a:t>
            </a:r>
            <a:br>
              <a:rPr lang="en-US" dirty="0"/>
            </a:br>
            <a:r>
              <a:rPr lang="en-US" dirty="0"/>
              <a:t>This method assigns importance to words based on how frequently they appear in a document relative to the entire dataset.</a:t>
            </a:r>
          </a:p>
        </p:txBody>
      </p:sp>
    </p:spTree>
    <p:extLst>
      <p:ext uri="{BB962C8B-B14F-4D97-AF65-F5344CB8AC3E}">
        <p14:creationId xmlns:p14="http://schemas.microsoft.com/office/powerpoint/2010/main" val="28520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068998-E3A2-230B-B87C-19E7BB36D87B}"/>
              </a:ext>
            </a:extLst>
          </p:cNvPr>
          <p:cNvSpPr txBox="1"/>
          <p:nvPr/>
        </p:nvSpPr>
        <p:spPr>
          <a:xfrm>
            <a:off x="1107831" y="1457573"/>
            <a:ext cx="6098344" cy="2585323"/>
          </a:xfrm>
          <a:prstGeom prst="rect">
            <a:avLst/>
          </a:prstGeom>
          <a:noFill/>
        </p:spPr>
        <p:txBody>
          <a:bodyPr wrap="square">
            <a:spAutoFit/>
          </a:bodyPr>
          <a:lstStyle/>
          <a:p>
            <a:r>
              <a:rPr lang="en-US" dirty="0"/>
              <a:t>User Input (News Text)</a:t>
            </a:r>
          </a:p>
          <a:p>
            <a:r>
              <a:rPr lang="en-US" dirty="0"/>
              <a:t>        ↓</a:t>
            </a:r>
          </a:p>
          <a:p>
            <a:r>
              <a:rPr lang="en-US" dirty="0"/>
              <a:t>Data Preprocessing</a:t>
            </a:r>
          </a:p>
          <a:p>
            <a:r>
              <a:rPr lang="en-US" dirty="0"/>
              <a:t>        ↓</a:t>
            </a:r>
          </a:p>
          <a:p>
            <a:r>
              <a:rPr lang="en-US" dirty="0"/>
              <a:t>Feature Extraction (TF-IDF)</a:t>
            </a:r>
          </a:p>
          <a:p>
            <a:r>
              <a:rPr lang="en-US" dirty="0"/>
              <a:t>        ↓</a:t>
            </a:r>
          </a:p>
          <a:p>
            <a:r>
              <a:rPr lang="en-US" dirty="0"/>
              <a:t>Machine Learning Model</a:t>
            </a:r>
          </a:p>
          <a:p>
            <a:r>
              <a:rPr lang="en-US" dirty="0"/>
              <a:t>        ↓</a:t>
            </a:r>
          </a:p>
          <a:p>
            <a:r>
              <a:rPr lang="en-US" dirty="0"/>
              <a:t>Output (Fake / Real)</a:t>
            </a:r>
          </a:p>
        </p:txBody>
      </p:sp>
      <p:sp>
        <p:nvSpPr>
          <p:cNvPr id="5" name="TextBox 4">
            <a:extLst>
              <a:ext uri="{FF2B5EF4-FFF2-40B4-BE49-F238E27FC236}">
                <a16:creationId xmlns:a16="http://schemas.microsoft.com/office/drawing/2014/main" id="{2CF1A248-61E6-78AA-C8A7-B2ED2B4A0217}"/>
              </a:ext>
            </a:extLst>
          </p:cNvPr>
          <p:cNvSpPr txBox="1"/>
          <p:nvPr/>
        </p:nvSpPr>
        <p:spPr>
          <a:xfrm>
            <a:off x="390379" y="666429"/>
            <a:ext cx="6098344" cy="461665"/>
          </a:xfrm>
          <a:prstGeom prst="rect">
            <a:avLst/>
          </a:prstGeom>
          <a:noFill/>
        </p:spPr>
        <p:txBody>
          <a:bodyPr wrap="square">
            <a:spAutoFit/>
          </a:bodyPr>
          <a:lstStyle/>
          <a:p>
            <a:pPr>
              <a:buNone/>
            </a:pPr>
            <a:r>
              <a:rPr lang="en-US" sz="2400" b="1" dirty="0"/>
              <a:t>8. System Architecture</a:t>
            </a:r>
          </a:p>
        </p:txBody>
      </p:sp>
      <p:sp>
        <p:nvSpPr>
          <p:cNvPr id="7" name="TextBox 6">
            <a:extLst>
              <a:ext uri="{FF2B5EF4-FFF2-40B4-BE49-F238E27FC236}">
                <a16:creationId xmlns:a16="http://schemas.microsoft.com/office/drawing/2014/main" id="{2993963E-7A90-4305-BD96-C72AFB79D257}"/>
              </a:ext>
            </a:extLst>
          </p:cNvPr>
          <p:cNvSpPr txBox="1"/>
          <p:nvPr/>
        </p:nvSpPr>
        <p:spPr>
          <a:xfrm>
            <a:off x="516987" y="4042896"/>
            <a:ext cx="7712613" cy="2554545"/>
          </a:xfrm>
          <a:prstGeom prst="rect">
            <a:avLst/>
          </a:prstGeom>
          <a:noFill/>
        </p:spPr>
        <p:txBody>
          <a:bodyPr wrap="square">
            <a:spAutoFit/>
          </a:bodyPr>
          <a:lstStyle/>
          <a:p>
            <a:pPr>
              <a:buNone/>
            </a:pPr>
            <a:r>
              <a:rPr lang="en-US" sz="2000" b="1" dirty="0"/>
              <a:t>9. Implementation Details</a:t>
            </a:r>
          </a:p>
          <a:p>
            <a:pPr>
              <a:buFont typeface="Arial" panose="020B0604020202020204" pitchFamily="34" charset="0"/>
              <a:buChar char="•"/>
            </a:pPr>
            <a:r>
              <a:rPr lang="en-US" sz="2000" b="1" dirty="0"/>
              <a:t>Programming Language:</a:t>
            </a:r>
            <a:r>
              <a:rPr lang="en-US" sz="2000" dirty="0"/>
              <a:t> Python </a:t>
            </a:r>
          </a:p>
          <a:p>
            <a:pPr>
              <a:buFont typeface="Arial" panose="020B0604020202020204" pitchFamily="34" charset="0"/>
              <a:buChar char="•"/>
            </a:pPr>
            <a:r>
              <a:rPr lang="en-US" sz="2000" b="1" dirty="0"/>
              <a:t>Tools Used:</a:t>
            </a:r>
            <a:r>
              <a:rPr lang="en-US" sz="2000" dirty="0"/>
              <a:t> Google </a:t>
            </a:r>
            <a:r>
              <a:rPr lang="en-US" sz="2000" dirty="0" err="1"/>
              <a:t>Colab</a:t>
            </a:r>
            <a:r>
              <a:rPr lang="en-US" sz="2000" dirty="0"/>
              <a:t> / </a:t>
            </a:r>
            <a:r>
              <a:rPr lang="en-US" sz="2000" dirty="0" err="1"/>
              <a:t>Jupyter</a:t>
            </a:r>
            <a:r>
              <a:rPr lang="en-US" sz="2000" dirty="0"/>
              <a:t> Notebook </a:t>
            </a:r>
          </a:p>
          <a:p>
            <a:pPr>
              <a:buFont typeface="Arial" panose="020B0604020202020204" pitchFamily="34" charset="0"/>
              <a:buChar char="•"/>
            </a:pPr>
            <a:r>
              <a:rPr lang="en-US" sz="2000" b="1" dirty="0"/>
              <a:t>Libraries:</a:t>
            </a:r>
            <a:r>
              <a:rPr lang="en-US" sz="2000" dirty="0"/>
              <a:t> </a:t>
            </a:r>
          </a:p>
          <a:p>
            <a:pPr marL="742950" lvl="1" indent="-285750">
              <a:buFont typeface="Arial" panose="020B0604020202020204" pitchFamily="34" charset="0"/>
              <a:buChar char="•"/>
            </a:pPr>
            <a:r>
              <a:rPr lang="en-US" sz="2000" dirty="0"/>
              <a:t>Pandas (data handling) </a:t>
            </a:r>
          </a:p>
          <a:p>
            <a:pPr marL="742950" lvl="1" indent="-285750">
              <a:buFont typeface="Arial" panose="020B0604020202020204" pitchFamily="34" charset="0"/>
              <a:buChar char="•"/>
            </a:pPr>
            <a:r>
              <a:rPr lang="en-US" sz="2000" dirty="0"/>
              <a:t>NumPy (numerical computation) </a:t>
            </a:r>
          </a:p>
          <a:p>
            <a:pPr marL="742950" lvl="1" indent="-285750">
              <a:buFont typeface="Arial" panose="020B0604020202020204" pitchFamily="34" charset="0"/>
              <a:buChar char="•"/>
            </a:pPr>
            <a:r>
              <a:rPr lang="en-US" sz="2000" dirty="0"/>
              <a:t>Scikit-learn (machine learning) </a:t>
            </a:r>
          </a:p>
          <a:p>
            <a:pPr marL="742950" lvl="1" indent="-285750">
              <a:buFont typeface="Arial" panose="020B0604020202020204" pitchFamily="34" charset="0"/>
              <a:buChar char="•"/>
            </a:pPr>
            <a:r>
              <a:rPr lang="en-US" sz="2000" dirty="0"/>
              <a:t>NLTK (text preprocessing)</a:t>
            </a:r>
          </a:p>
        </p:txBody>
      </p:sp>
    </p:spTree>
    <p:extLst>
      <p:ext uri="{BB962C8B-B14F-4D97-AF65-F5344CB8AC3E}">
        <p14:creationId xmlns:p14="http://schemas.microsoft.com/office/powerpoint/2010/main" val="1727054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6542B7-20D9-9825-8F5E-092185BCCFBE}"/>
              </a:ext>
            </a:extLst>
          </p:cNvPr>
          <p:cNvSpPr txBox="1"/>
          <p:nvPr/>
        </p:nvSpPr>
        <p:spPr>
          <a:xfrm>
            <a:off x="464234" y="633047"/>
            <a:ext cx="11591779" cy="4093428"/>
          </a:xfrm>
          <a:prstGeom prst="rect">
            <a:avLst/>
          </a:prstGeom>
          <a:noFill/>
        </p:spPr>
        <p:txBody>
          <a:bodyPr wrap="square">
            <a:spAutoFit/>
          </a:bodyPr>
          <a:lstStyle/>
          <a:p>
            <a:pPr>
              <a:buNone/>
            </a:pPr>
            <a:r>
              <a:rPr lang="en-US" sz="2000" b="1" dirty="0"/>
              <a:t>10. Key Design Decisions</a:t>
            </a:r>
          </a:p>
          <a:p>
            <a:pPr>
              <a:buFont typeface="Arial" panose="020B0604020202020204" pitchFamily="34" charset="0"/>
              <a:buChar char="•"/>
            </a:pPr>
            <a:r>
              <a:rPr lang="en-US" sz="2000" dirty="0"/>
              <a:t>Chose </a:t>
            </a:r>
            <a:r>
              <a:rPr lang="en-US" sz="2000" b="1" dirty="0"/>
              <a:t>TF-IDF</a:t>
            </a:r>
            <a:r>
              <a:rPr lang="en-US" sz="2000" dirty="0"/>
              <a:t> over simple Bag-of-Words for better feature representation </a:t>
            </a:r>
          </a:p>
          <a:p>
            <a:pPr>
              <a:buFont typeface="Arial" panose="020B0604020202020204" pitchFamily="34" charset="0"/>
              <a:buChar char="•"/>
            </a:pPr>
            <a:r>
              <a:rPr lang="en-US" sz="2000" dirty="0"/>
              <a:t>Selected </a:t>
            </a:r>
            <a:r>
              <a:rPr lang="en-US" sz="2000" b="1" dirty="0"/>
              <a:t>Logistic Regression</a:t>
            </a:r>
            <a:r>
              <a:rPr lang="en-US" sz="2000" dirty="0"/>
              <a:t> for its simplicity and strong baseline performance </a:t>
            </a:r>
          </a:p>
          <a:p>
            <a:pPr>
              <a:buFont typeface="Arial" panose="020B0604020202020204" pitchFamily="34" charset="0"/>
              <a:buChar char="•"/>
            </a:pPr>
            <a:r>
              <a:rPr lang="en-US" sz="2000" dirty="0"/>
              <a:t>Used basic preprocessing to maintain a balance between simplicity and effectiveness </a:t>
            </a:r>
          </a:p>
          <a:p>
            <a:pPr>
              <a:buNone/>
            </a:pPr>
            <a:br>
              <a:rPr lang="en-US" sz="2000" dirty="0"/>
            </a:br>
            <a:endParaRPr lang="en-US" sz="2000" dirty="0"/>
          </a:p>
          <a:p>
            <a:pPr>
              <a:buNone/>
            </a:pPr>
            <a:r>
              <a:rPr lang="en-US" sz="2000" b="1" dirty="0"/>
              <a:t>11. Challenges Faced</a:t>
            </a:r>
          </a:p>
          <a:p>
            <a:pPr>
              <a:buNone/>
            </a:pPr>
            <a:r>
              <a:rPr lang="en-US" sz="2000" dirty="0"/>
              <a:t>During the development of the project, several challenges were encountered:</a:t>
            </a:r>
          </a:p>
          <a:p>
            <a:pPr>
              <a:buFont typeface="Arial" panose="020B0604020202020204" pitchFamily="34" charset="0"/>
              <a:buChar char="•"/>
            </a:pPr>
            <a:r>
              <a:rPr lang="en-US" sz="2000" dirty="0"/>
              <a:t>Handling noisy and unstructured text data </a:t>
            </a:r>
          </a:p>
          <a:p>
            <a:pPr>
              <a:buFont typeface="Arial" panose="020B0604020202020204" pitchFamily="34" charset="0"/>
              <a:buChar char="•"/>
            </a:pPr>
            <a:r>
              <a:rPr lang="en-US" sz="2000" dirty="0"/>
              <a:t>Removing irrelevant words without losing important context </a:t>
            </a:r>
          </a:p>
          <a:p>
            <a:pPr>
              <a:buFont typeface="Arial" panose="020B0604020202020204" pitchFamily="34" charset="0"/>
              <a:buChar char="•"/>
            </a:pPr>
            <a:r>
              <a:rPr lang="en-US" sz="2000" dirty="0"/>
              <a:t>Selecting the most suitable machine learning model </a:t>
            </a:r>
          </a:p>
          <a:p>
            <a:pPr>
              <a:buFont typeface="Arial" panose="020B0604020202020204" pitchFamily="34" charset="0"/>
              <a:buChar char="•"/>
            </a:pPr>
            <a:r>
              <a:rPr lang="en-US" sz="2000" dirty="0"/>
              <a:t>Limited availability of high-quality labeled datasets </a:t>
            </a:r>
          </a:p>
          <a:p>
            <a:pPr>
              <a:buFont typeface="Arial" panose="020B0604020202020204" pitchFamily="34" charset="0"/>
              <a:buChar char="•"/>
            </a:pPr>
            <a:r>
              <a:rPr lang="en-US" sz="2000" dirty="0"/>
              <a:t>Avoiding overfitting of the model</a:t>
            </a:r>
          </a:p>
        </p:txBody>
      </p:sp>
      <p:sp>
        <p:nvSpPr>
          <p:cNvPr id="5" name="TextBox 4">
            <a:extLst>
              <a:ext uri="{FF2B5EF4-FFF2-40B4-BE49-F238E27FC236}">
                <a16:creationId xmlns:a16="http://schemas.microsoft.com/office/drawing/2014/main" id="{66636315-211E-BBB7-43C8-0C9EB9936235}"/>
              </a:ext>
            </a:extLst>
          </p:cNvPr>
          <p:cNvSpPr txBox="1"/>
          <p:nvPr/>
        </p:nvSpPr>
        <p:spPr>
          <a:xfrm>
            <a:off x="464234" y="4942006"/>
            <a:ext cx="6766560" cy="1477328"/>
          </a:xfrm>
          <a:prstGeom prst="rect">
            <a:avLst/>
          </a:prstGeom>
          <a:noFill/>
        </p:spPr>
        <p:txBody>
          <a:bodyPr wrap="square">
            <a:spAutoFit/>
          </a:bodyPr>
          <a:lstStyle/>
          <a:p>
            <a:pPr>
              <a:buNone/>
            </a:pPr>
            <a:r>
              <a:rPr lang="en-US" b="1" dirty="0"/>
              <a:t>12. Results and Discussion</a:t>
            </a:r>
          </a:p>
          <a:p>
            <a:pPr>
              <a:buNone/>
            </a:pPr>
            <a:r>
              <a:rPr lang="en-US" dirty="0"/>
              <a:t>The system successfully classified news articles into fake and real categories. The performance of the models was satisfactory:</a:t>
            </a:r>
          </a:p>
          <a:p>
            <a:pPr>
              <a:buFont typeface="Arial" panose="020B0604020202020204" pitchFamily="34" charset="0"/>
              <a:buChar char="•"/>
            </a:pPr>
            <a:r>
              <a:rPr lang="en-US" dirty="0"/>
              <a:t>Logistic Regression showed better accuracy compared to Naive Bayes </a:t>
            </a:r>
          </a:p>
          <a:p>
            <a:pPr>
              <a:buFont typeface="Arial" panose="020B0604020202020204" pitchFamily="34" charset="0"/>
              <a:buChar char="•"/>
            </a:pPr>
            <a:r>
              <a:rPr lang="en-US" dirty="0"/>
              <a:t>The system performed well on structured datasets</a:t>
            </a:r>
          </a:p>
        </p:txBody>
      </p:sp>
    </p:spTree>
    <p:extLst>
      <p:ext uri="{BB962C8B-B14F-4D97-AF65-F5344CB8AC3E}">
        <p14:creationId xmlns:p14="http://schemas.microsoft.com/office/powerpoint/2010/main" val="1739405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2BAB38-5D8C-8B2E-9921-7D88882707AF}"/>
              </a:ext>
            </a:extLst>
          </p:cNvPr>
          <p:cNvSpPr txBox="1"/>
          <p:nvPr/>
        </p:nvSpPr>
        <p:spPr>
          <a:xfrm>
            <a:off x="759655" y="858129"/>
            <a:ext cx="11043138" cy="3970318"/>
          </a:xfrm>
          <a:prstGeom prst="rect">
            <a:avLst/>
          </a:prstGeom>
          <a:noFill/>
        </p:spPr>
        <p:txBody>
          <a:bodyPr wrap="square">
            <a:spAutoFit/>
          </a:bodyPr>
          <a:lstStyle/>
          <a:p>
            <a:pPr>
              <a:buNone/>
            </a:pPr>
            <a:r>
              <a:rPr lang="en-US" b="1" dirty="0"/>
              <a:t>13. Limitations</a:t>
            </a:r>
          </a:p>
          <a:p>
            <a:pPr>
              <a:buFont typeface="Arial" panose="020B0604020202020204" pitchFamily="34" charset="0"/>
              <a:buChar char="•"/>
            </a:pPr>
            <a:r>
              <a:rPr lang="en-US" dirty="0"/>
              <a:t>Does not handle multimedia content (images/videos) </a:t>
            </a:r>
          </a:p>
          <a:p>
            <a:pPr>
              <a:buFont typeface="Arial" panose="020B0604020202020204" pitchFamily="34" charset="0"/>
              <a:buChar char="•"/>
            </a:pPr>
            <a:r>
              <a:rPr lang="en-US" dirty="0"/>
              <a:t>Performance depends heavily on dataset quality </a:t>
            </a:r>
          </a:p>
          <a:p>
            <a:pPr>
              <a:buFont typeface="Arial" panose="020B0604020202020204" pitchFamily="34" charset="0"/>
              <a:buChar char="•"/>
            </a:pPr>
            <a:r>
              <a:rPr lang="en-US" dirty="0"/>
              <a:t>Cannot fully understand context or sarcasm </a:t>
            </a:r>
          </a:p>
          <a:p>
            <a:pPr>
              <a:buFont typeface="Arial" panose="020B0604020202020204" pitchFamily="34" charset="0"/>
              <a:buChar char="•"/>
            </a:pPr>
            <a:r>
              <a:rPr lang="en-US" dirty="0"/>
              <a:t>Requires continuous updates with new data </a:t>
            </a:r>
          </a:p>
          <a:p>
            <a:pPr>
              <a:buNone/>
            </a:pPr>
            <a:br>
              <a:rPr lang="en-US" dirty="0"/>
            </a:br>
            <a:endParaRPr lang="en-US" dirty="0"/>
          </a:p>
          <a:p>
            <a:pPr>
              <a:buNone/>
            </a:pPr>
            <a:r>
              <a:rPr lang="en-US" b="1" dirty="0"/>
              <a:t>14. Future Scope</a:t>
            </a:r>
          </a:p>
          <a:p>
            <a:pPr>
              <a:buNone/>
            </a:pPr>
            <a:r>
              <a:rPr lang="en-US" dirty="0"/>
              <a:t>The project can be further improved by:</a:t>
            </a:r>
          </a:p>
          <a:p>
            <a:pPr>
              <a:buFont typeface="Arial" panose="020B0604020202020204" pitchFamily="34" charset="0"/>
              <a:buChar char="•"/>
            </a:pPr>
            <a:r>
              <a:rPr lang="en-US" dirty="0"/>
              <a:t>Implementing deep learning models like LSTM or BERT </a:t>
            </a:r>
          </a:p>
          <a:p>
            <a:pPr>
              <a:buFont typeface="Arial" panose="020B0604020202020204" pitchFamily="34" charset="0"/>
              <a:buChar char="•"/>
            </a:pPr>
            <a:r>
              <a:rPr lang="en-US" dirty="0"/>
              <a:t>Developing a web-based or mobile application </a:t>
            </a:r>
          </a:p>
          <a:p>
            <a:pPr>
              <a:buFont typeface="Arial" panose="020B0604020202020204" pitchFamily="34" charset="0"/>
              <a:buChar char="•"/>
            </a:pPr>
            <a:r>
              <a:rPr lang="en-US" dirty="0"/>
              <a:t>Real-time fake news detection system </a:t>
            </a:r>
          </a:p>
          <a:p>
            <a:pPr>
              <a:buFont typeface="Arial" panose="020B0604020202020204" pitchFamily="34" charset="0"/>
              <a:buChar char="•"/>
            </a:pPr>
            <a:r>
              <a:rPr lang="en-US" dirty="0"/>
              <a:t>Integration with social media platforms </a:t>
            </a:r>
          </a:p>
          <a:p>
            <a:pPr>
              <a:buFont typeface="Arial" panose="020B0604020202020204" pitchFamily="34" charset="0"/>
              <a:buChar char="•"/>
            </a:pPr>
            <a:r>
              <a:rPr lang="en-US" dirty="0"/>
              <a:t>Multilingual support for different languages</a:t>
            </a:r>
          </a:p>
        </p:txBody>
      </p:sp>
      <p:sp>
        <p:nvSpPr>
          <p:cNvPr id="5" name="TextBox 4">
            <a:extLst>
              <a:ext uri="{FF2B5EF4-FFF2-40B4-BE49-F238E27FC236}">
                <a16:creationId xmlns:a16="http://schemas.microsoft.com/office/drawing/2014/main" id="{52C6E668-8907-E0C8-BB89-BBC06F76914F}"/>
              </a:ext>
            </a:extLst>
          </p:cNvPr>
          <p:cNvSpPr txBox="1"/>
          <p:nvPr/>
        </p:nvSpPr>
        <p:spPr>
          <a:xfrm>
            <a:off x="759655" y="4940988"/>
            <a:ext cx="7118253" cy="1200329"/>
          </a:xfrm>
          <a:prstGeom prst="rect">
            <a:avLst/>
          </a:prstGeom>
          <a:noFill/>
        </p:spPr>
        <p:txBody>
          <a:bodyPr wrap="square">
            <a:spAutoFit/>
          </a:bodyPr>
          <a:lstStyle/>
          <a:p>
            <a:pPr>
              <a:buNone/>
            </a:pPr>
            <a:r>
              <a:rPr lang="en-US" b="1" dirty="0"/>
              <a:t>15. Conclusion</a:t>
            </a:r>
          </a:p>
          <a:p>
            <a:pPr>
              <a:buNone/>
            </a:pPr>
            <a:r>
              <a:rPr lang="en-US" dirty="0"/>
              <a:t>The Fake News Detection System demonstrates the practical application of machine learning in solving real-world problems. It provides an efficient way to classify news articles and reduce the spread of misinformation.</a:t>
            </a:r>
          </a:p>
        </p:txBody>
      </p:sp>
    </p:spTree>
    <p:extLst>
      <p:ext uri="{BB962C8B-B14F-4D97-AF65-F5344CB8AC3E}">
        <p14:creationId xmlns:p14="http://schemas.microsoft.com/office/powerpoint/2010/main" val="376971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9DB-415D-F3F8-74CD-37349A5F9B6E}"/>
              </a:ext>
            </a:extLst>
          </p:cNvPr>
          <p:cNvSpPr>
            <a:spLocks noGrp="1"/>
          </p:cNvSpPr>
          <p:nvPr>
            <p:ph type="title"/>
          </p:nvPr>
        </p:nvSpPr>
        <p:spPr>
          <a:xfrm>
            <a:off x="4220307" y="1701555"/>
            <a:ext cx="6725529" cy="1325563"/>
          </a:xfrm>
        </p:spPr>
        <p:txBody>
          <a:bodyPr/>
          <a:lstStyle/>
          <a:p>
            <a:r>
              <a:rPr lang="en-US" dirty="0"/>
              <a:t>THANK YOU.</a:t>
            </a:r>
          </a:p>
        </p:txBody>
      </p:sp>
    </p:spTree>
    <p:extLst>
      <p:ext uri="{BB962C8B-B14F-4D97-AF65-F5344CB8AC3E}">
        <p14:creationId xmlns:p14="http://schemas.microsoft.com/office/powerpoint/2010/main" val="1977050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946</Words>
  <Application>Microsoft Office PowerPoint</Application>
  <PresentationFormat>Widescreen</PresentationFormat>
  <Paragraphs>101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FAKE NEWS DETECTION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lathika thirumurugan</dc:creator>
  <cp:lastModifiedBy>lathika thirumurugan</cp:lastModifiedBy>
  <cp:revision>1</cp:revision>
  <dcterms:created xsi:type="dcterms:W3CDTF">2026-03-26T14:26:59Z</dcterms:created>
  <dcterms:modified xsi:type="dcterms:W3CDTF">2026-03-26T15:03:48Z</dcterms:modified>
</cp:coreProperties>
</file>